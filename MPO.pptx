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78134-76E9-7E80-9CDD-D6315BE56B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8AB317-0BE9-A046-DF5C-F42C7B233B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441046-AC95-A76B-EB96-C345E7837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D72F5-9E32-4647-A556-CE42A65CBDDA}" type="datetimeFigureOut">
              <a:rPr lang="en-SG" smtClean="0"/>
              <a:t>20/3/2025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F88D48-CF95-C619-0686-936F0D2A8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F923E0-F6EA-645F-428B-CF97B804F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3283E-C6C8-405A-A19B-7996B0D476D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685047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57D6A-1A1A-FEDD-8803-56E094F282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93CD5F-2783-A460-8F5E-619EB7F304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30EA68-1BA1-0E14-169D-B82609951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D72F5-9E32-4647-A556-CE42A65CBDDA}" type="datetimeFigureOut">
              <a:rPr lang="en-SG" smtClean="0"/>
              <a:t>20/3/2025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4B701A-6FC8-2354-5101-42A4A86B8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F191E2-5F17-07DA-035C-D81356549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3283E-C6C8-405A-A19B-7996B0D476D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24789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72203-A20C-604E-1112-8FDF43C7E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128119-64EB-AB46-EAB8-28FC03A9D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7E500C-EE36-C1FA-2B97-D90D2C5EC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D72F5-9E32-4647-A556-CE42A65CBDDA}" type="datetimeFigureOut">
              <a:rPr lang="en-SG" smtClean="0"/>
              <a:t>20/3/2025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11A8D0-4985-7F6E-1C83-1267235BA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06FB98-36F5-0291-9F50-BE8E36420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3283E-C6C8-405A-A19B-7996B0D476D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083791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0578E3-98F4-46F2-BA25-DF8D75ADD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98B1D1-E850-7F3C-A0EC-1B8375F659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B71C36-C137-2568-92CD-883C15D7C8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C7CD81-01A2-603F-8ED3-46469D256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D72F5-9E32-4647-A556-CE42A65CBDDA}" type="datetimeFigureOut">
              <a:rPr lang="en-SG" smtClean="0"/>
              <a:t>20/3/2025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21AD55-4382-AF36-D20C-7D0DAC6E5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408F5A-6D86-C8CE-6FEA-416822E29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3283E-C6C8-405A-A19B-7996B0D476D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8071388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83644-5079-1F5D-108C-182A8246D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858B3C-552E-F10E-6721-6CD20A9547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70EEC4-15B8-3EAB-4D7E-00D7131DA6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A99AAE-8D9F-9D8E-9392-ADFB2B2971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0F2625-9F5F-85C1-1BCF-4232B0366C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45CC4F-C053-80BE-04C7-1F4F234EF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D72F5-9E32-4647-A556-CE42A65CBDDA}" type="datetimeFigureOut">
              <a:rPr lang="en-SG" smtClean="0"/>
              <a:t>20/3/2025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4369AA9-A683-90B1-5723-53B732776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3330E9-5278-5092-9EEC-84DDD4768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3283E-C6C8-405A-A19B-7996B0D476D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9487172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1EE4A-3BD9-B7B6-234F-BC7F5E1BF7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C79970-A44C-E442-EA6F-A3FC351D5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D72F5-9E32-4647-A556-CE42A65CBDDA}" type="datetimeFigureOut">
              <a:rPr lang="en-SG" smtClean="0"/>
              <a:t>20/3/2025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A395AB-755D-17C0-4928-78E5244EC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3797F1-6F33-0D3B-167C-1B45A964E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3283E-C6C8-405A-A19B-7996B0D476D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2511400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BCEFC3-48F3-3B71-93BD-ADF9730811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D72F5-9E32-4647-A556-CE42A65CBDDA}" type="datetimeFigureOut">
              <a:rPr lang="en-SG" smtClean="0"/>
              <a:t>20/3/2025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1264F6-8701-E8EC-D2AB-DA9F29465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89277B-9D9A-0DD1-174E-A88F74E34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3283E-C6C8-405A-A19B-7996B0D476D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52813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95BBC-C7D6-3B69-4228-68B6823B13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67E613-6E47-B370-9348-6F68C221D7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3817D7-6BF9-3513-4CF8-82C090D1D4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FF6965-4E75-F7D1-9976-C44E2122E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D72F5-9E32-4647-A556-CE42A65CBDDA}" type="datetimeFigureOut">
              <a:rPr lang="en-SG" smtClean="0"/>
              <a:t>20/3/2025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022F3D-BCE6-41A9-E765-DB4E70A2B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3FFAEB-EE3D-21ED-27D9-6B733AE2B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3283E-C6C8-405A-A19B-7996B0D476D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2728840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F3A88-9749-1C11-6648-5191E02844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B4DBEC-E9E4-19BB-FA8C-E42A5653AD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1D1C0A-E6AF-F818-9FE0-B1CCAFC6C0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AC2459-359A-AEE0-5258-7A937DF44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D72F5-9E32-4647-A556-CE42A65CBDDA}" type="datetimeFigureOut">
              <a:rPr lang="en-SG" smtClean="0"/>
              <a:t>20/3/2025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893EF8-5AC7-9FC0-6762-9906E9251C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A033C7-A7BE-B47D-7505-61E3815B1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3283E-C6C8-405A-A19B-7996B0D476D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754183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CCE01-89D4-FD74-180E-855556D0BE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45706E-399D-5274-2EEE-9B1768D280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75DF3E-504C-BCD1-EA3A-5939B4C7F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D72F5-9E32-4647-A556-CE42A65CBDDA}" type="datetimeFigureOut">
              <a:rPr lang="en-SG" smtClean="0"/>
              <a:t>20/3/2025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9D3C43-9609-BD79-98A8-061D779B41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A73C6D-EAB4-385E-820F-93344B75B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3283E-C6C8-405A-A19B-7996B0D476D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890734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90B43B-9D57-73C4-AAC1-BE1B7D0BA0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186005-A49B-33EA-B114-1974D52B52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575497-1BE1-381E-63D4-890417BAED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D72F5-9E32-4647-A556-CE42A65CBDDA}" type="datetimeFigureOut">
              <a:rPr lang="en-SG" smtClean="0"/>
              <a:t>20/3/2025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C7E64C-97BE-82A2-4A27-14B461DC1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128FB7-7CC4-FCE4-A353-836341C96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3283E-C6C8-405A-A19B-7996B0D476D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2939627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DC4AC6-9E29-5D21-1E79-095E154F3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13EE98-5BA8-9D2C-7065-026BC59300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343742-DC62-5A30-5894-0708457710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0D72F5-9E32-4647-A556-CE42A65CBDDA}" type="datetimeFigureOut">
              <a:rPr lang="en-SG" smtClean="0"/>
              <a:t>20/3/2025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51AFB1-B220-007A-6D73-E634EC8444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30A1D7-6FDC-E0F0-6EAF-78CACD7720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43283E-C6C8-405A-A19B-7996B0D476D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5030147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C6571-0C66-1F49-1B02-192B47F0799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226818-5C71-A70D-C95E-9AE7323CB8C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5947730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DC7D2-9699-B8A1-97BF-9EF9E1C3C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647312-65D1-145A-6086-3D99ABDEAB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改进点：</a:t>
            </a:r>
            <a:endParaRPr lang="en-SG" altLang="zh-CN" dirty="0"/>
          </a:p>
          <a:p>
            <a:pPr marL="0" indent="0">
              <a:buNone/>
            </a:pPr>
            <a:r>
              <a:rPr lang="zh-CN" altLang="en-US" dirty="0"/>
              <a:t>规划幻觉</a:t>
            </a:r>
            <a:endParaRPr lang="en-SG" altLang="zh-CN" dirty="0"/>
          </a:p>
          <a:p>
            <a:pPr marL="0" indent="0">
              <a:buNone/>
            </a:pPr>
            <a:r>
              <a:rPr lang="zh-CN" altLang="en-US" dirty="0"/>
              <a:t>重训练需求</a:t>
            </a:r>
            <a:endParaRPr lang="en-SG" altLang="zh-CN" dirty="0"/>
          </a:p>
          <a:p>
            <a:pPr marL="0" indent="0">
              <a:buNone/>
            </a:pPr>
            <a:endParaRPr lang="en-SG" altLang="zh-CN" dirty="0"/>
          </a:p>
          <a:p>
            <a:pPr marL="0" indent="0">
              <a:buNone/>
            </a:pPr>
            <a:r>
              <a:rPr lang="zh-CN" altLang="en-US" dirty="0"/>
              <a:t>效果</a:t>
            </a:r>
            <a:r>
              <a:rPr lang="en-SG" altLang="zh-CN" dirty="0"/>
              <a:t>/</a:t>
            </a:r>
            <a:r>
              <a:rPr lang="zh-CN" altLang="en-US" dirty="0"/>
              <a:t>：</a:t>
            </a:r>
            <a:endParaRPr lang="en-SG" altLang="zh-CN" dirty="0"/>
          </a:p>
          <a:p>
            <a:pPr marL="0" indent="0">
              <a:buNone/>
            </a:pPr>
            <a:r>
              <a:rPr lang="zh-CN" altLang="en-US" dirty="0"/>
              <a:t>在</a:t>
            </a:r>
            <a:r>
              <a:rPr lang="en-SG" dirty="0" err="1"/>
              <a:t>ALFWorld</a:t>
            </a:r>
            <a:r>
              <a:rPr lang="zh-CN" altLang="en-US" dirty="0"/>
              <a:t>和</a:t>
            </a:r>
            <a:r>
              <a:rPr lang="en-SG" dirty="0" err="1"/>
              <a:t>ScienceWorld</a:t>
            </a:r>
            <a:r>
              <a:rPr lang="zh-CN" altLang="en-US" dirty="0"/>
              <a:t>基准测试中</a:t>
            </a:r>
          </a:p>
          <a:p>
            <a:pPr marL="0" indent="0">
              <a:buNone/>
            </a:pPr>
            <a:r>
              <a:rPr lang="zh-CN" altLang="en-US" dirty="0"/>
              <a:t>轻量级的 </a:t>
            </a:r>
            <a:r>
              <a:rPr lang="en-SG" altLang="zh-CN" dirty="0"/>
              <a:t>meta planner </a:t>
            </a:r>
            <a:r>
              <a:rPr lang="zh-CN" altLang="en-US" dirty="0"/>
              <a:t>可以指导更强大的</a:t>
            </a:r>
            <a:r>
              <a:rPr lang="en-SG" altLang="zh-CN" dirty="0"/>
              <a:t>A</a:t>
            </a:r>
            <a:r>
              <a:rPr lang="en-US" altLang="zh-CN" dirty="0"/>
              <a:t>gent</a:t>
            </a:r>
            <a:r>
              <a:rPr lang="zh-CN" altLang="en-US" dirty="0"/>
              <a:t>进行规划。</a:t>
            </a:r>
          </a:p>
          <a:p>
            <a:pPr marL="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953820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D1231-B511-5419-2EA1-4D3E73A3D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背景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71A578-584E-0501-98E2-4B02A0324F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00000"/>
              </a:lnSpc>
              <a:buNone/>
            </a:pPr>
            <a:r>
              <a:rPr lang="zh-CN" altLang="en-US" b="0" dirty="0">
                <a:solidFill>
                  <a:srgbClr val="D4D4D4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大型语言模型（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LLM</a:t>
            </a:r>
            <a:r>
              <a:rPr lang="zh-CN" altLang="en-US" b="0" dirty="0">
                <a:solidFill>
                  <a:srgbClr val="D4D4D4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）近年来取得了显著进展，使基于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LLM</a:t>
            </a:r>
            <a:r>
              <a:rPr lang="zh-CN" altLang="en-US" b="0" dirty="0">
                <a:solidFill>
                  <a:srgbClr val="D4D4D4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的代理能够处理复杂的多步骤任务，如家务和科学实验。这些任务需要高级规划能力，包括理解长期依赖、推理顺序行动和适应动态环境。然而，现有方法往往依赖隐式规划，容易出现规划幻觉（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planning hallucinations</a:t>
            </a:r>
            <a:r>
              <a:rPr lang="zh-CN" altLang="en-US" b="0" dirty="0">
                <a:solidFill>
                  <a:srgbClr val="D4D4D4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），且每次新代理都需要重新训练，计算成本高。</a:t>
            </a:r>
            <a:endParaRPr lang="en-SG" altLang="zh-CN" b="0" dirty="0">
              <a:solidFill>
                <a:srgbClr val="D4D4D4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00000"/>
              </a:lnSpc>
              <a:buNone/>
            </a:pPr>
            <a:r>
              <a:rPr lang="zh-CN" altLang="en-US" b="0" dirty="0">
                <a:solidFill>
                  <a:srgbClr val="D4D4D4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此外，一些研究尝试使用显式知识指导，但需要大量人工努力或缺乏质量保证，效果不稳定。</a:t>
            </a:r>
          </a:p>
          <a:p>
            <a:pPr>
              <a:lnSpc>
                <a:spcPct val="100000"/>
              </a:lnSpc>
            </a:pPr>
            <a:br>
              <a:rPr lang="zh-CN" altLang="en-US" b="0" dirty="0">
                <a:solidFill>
                  <a:srgbClr val="D4D4D4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endParaRPr lang="zh-CN" altLang="en-US" b="0" dirty="0">
              <a:solidFill>
                <a:srgbClr val="D4D4D4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00000"/>
              </a:lnSpc>
            </a:pPr>
            <a:endParaRPr lang="en-SG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364272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0CDBC-A192-3212-BCE8-7DE1B4CC15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什么是规划幻觉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D4069D-D1F7-89BD-EBB9-EFF3AF92C1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r>
              <a:rPr lang="en-US" dirty="0"/>
              <a:t> (Yao et al., 2022)and </a:t>
            </a:r>
            <a:r>
              <a:rPr lang="en-US" dirty="0" err="1"/>
              <a:t>Reflexion</a:t>
            </a:r>
            <a:r>
              <a:rPr lang="en-US" dirty="0"/>
              <a:t> (Shinn et al., 2024) perform planning on-the-fly during task execution and are prone to getting lost due to planning hallucination</a:t>
            </a:r>
            <a:endParaRPr lang="en-SG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0B03C02-5DF4-5C3E-2ED5-5127CD90D72F}"/>
              </a:ext>
            </a:extLst>
          </p:cNvPr>
          <p:cNvSpPr/>
          <p:nvPr/>
        </p:nvSpPr>
        <p:spPr>
          <a:xfrm>
            <a:off x="2615381" y="3873910"/>
            <a:ext cx="2654709" cy="18976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O</a:t>
            </a:r>
            <a:r>
              <a:rPr lang="en-US" altLang="zh-CN" dirty="0" err="1"/>
              <a:t>penManus</a:t>
            </a:r>
            <a:r>
              <a:rPr lang="zh-CN" altLang="en-US" dirty="0"/>
              <a:t>改造时 没建仓先调了提交代码</a:t>
            </a:r>
            <a:endParaRPr lang="en-SG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9082A6-DF59-33B4-637D-E18440C3AC1D}"/>
              </a:ext>
            </a:extLst>
          </p:cNvPr>
          <p:cNvSpPr txBox="1"/>
          <p:nvPr/>
        </p:nvSpPr>
        <p:spPr>
          <a:xfrm>
            <a:off x="6921912" y="3354963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现有</a:t>
            </a:r>
            <a:r>
              <a:rPr lang="en-US" altLang="zh-CN" dirty="0"/>
              <a:t>latent planning </a:t>
            </a:r>
            <a:r>
              <a:rPr lang="zh-CN" altLang="en-US" dirty="0"/>
              <a:t>分类：</a:t>
            </a:r>
            <a:endParaRPr lang="en-US" dirty="0"/>
          </a:p>
          <a:p>
            <a:r>
              <a:rPr lang="en-US" dirty="0" err="1"/>
              <a:t>ReAct</a:t>
            </a:r>
            <a:r>
              <a:rPr lang="en-US" dirty="0"/>
              <a:t> - model’s inner ability</a:t>
            </a:r>
          </a:p>
          <a:p>
            <a:r>
              <a:rPr lang="en-SG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trajectory tuning</a:t>
            </a:r>
          </a:p>
          <a:p>
            <a:endParaRPr lang="en-SG" dirty="0"/>
          </a:p>
        </p:txBody>
      </p:sp>
      <p:sp>
        <p:nvSpPr>
          <p:cNvPr id="7" name="Left Brace 6">
            <a:extLst>
              <a:ext uri="{FF2B5EF4-FFF2-40B4-BE49-F238E27FC236}">
                <a16:creationId xmlns:a16="http://schemas.microsoft.com/office/drawing/2014/main" id="{F89A347C-A769-B9D0-E940-7A40D7E8148A}"/>
              </a:ext>
            </a:extLst>
          </p:cNvPr>
          <p:cNvSpPr/>
          <p:nvPr/>
        </p:nvSpPr>
        <p:spPr>
          <a:xfrm>
            <a:off x="6469626" y="3746090"/>
            <a:ext cx="235974" cy="1759975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5AA5F9-52BA-5938-9D6D-B55CE4F3AAAC}"/>
              </a:ext>
            </a:extLst>
          </p:cNvPr>
          <p:cNvSpPr txBox="1"/>
          <p:nvPr/>
        </p:nvSpPr>
        <p:spPr>
          <a:xfrm>
            <a:off x="6988278" y="5187547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显性知识指导：</a:t>
            </a:r>
            <a:endParaRPr lang="en-US" dirty="0"/>
          </a:p>
          <a:p>
            <a:r>
              <a:rPr lang="en-SG" altLang="zh-CN" dirty="0" err="1"/>
              <a:t>KnowAgent</a:t>
            </a:r>
            <a:r>
              <a:rPr lang="en-SG" altLang="zh-CN" dirty="0"/>
              <a:t> </a:t>
            </a:r>
            <a:r>
              <a:rPr lang="zh-CN" altLang="en-SG" dirty="0"/>
              <a:t>（</a:t>
            </a:r>
            <a:r>
              <a:rPr lang="en-SG" altLang="zh-CN" dirty="0"/>
              <a:t>Zhu et al.</a:t>
            </a:r>
            <a:r>
              <a:rPr lang="zh-CN" altLang="en-SG" dirty="0"/>
              <a:t>， </a:t>
            </a:r>
            <a:r>
              <a:rPr lang="en-SG" altLang="zh-CN" dirty="0"/>
              <a:t>2024</a:t>
            </a:r>
            <a:r>
              <a:rPr lang="zh-CN" altLang="en-SG" dirty="0"/>
              <a:t>） </a:t>
            </a:r>
            <a:r>
              <a:rPr lang="zh-CN" altLang="en-US" dirty="0"/>
              <a:t>和 </a:t>
            </a:r>
            <a:r>
              <a:rPr lang="en-SG" altLang="zh-CN" dirty="0"/>
              <a:t>WKM </a:t>
            </a:r>
            <a:r>
              <a:rPr lang="zh-CN" altLang="en-SG" dirty="0"/>
              <a:t>（</a:t>
            </a:r>
            <a:r>
              <a:rPr lang="en-SG" altLang="zh-CN" dirty="0"/>
              <a:t>Qiao et al.</a:t>
            </a:r>
            <a:r>
              <a:rPr lang="zh-CN" altLang="en-SG" dirty="0"/>
              <a:t>， </a:t>
            </a:r>
            <a:r>
              <a:rPr lang="en-SG" altLang="zh-CN" dirty="0"/>
              <a:t>2024</a:t>
            </a:r>
            <a:r>
              <a:rPr lang="zh-CN" altLang="en-SG" dirty="0"/>
              <a:t>）</a:t>
            </a:r>
            <a:r>
              <a:rPr lang="zh-CN" altLang="en-US" dirty="0"/>
              <a:t>为代理规划过程注入了明确的指导。这两种方法需要微调基本模型，使其与其他代理框架不兼容。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7347678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DA161-D588-A81D-DBA6-D19819BD1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SG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4A29A66-9C63-408F-5CEE-F9917F29EF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5360" y="1845289"/>
            <a:ext cx="5720640" cy="4351338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3BA3500-BE99-3C70-CFDE-DD41E30AFFEC}"/>
              </a:ext>
            </a:extLst>
          </p:cNvPr>
          <p:cNvSpPr txBox="1"/>
          <p:nvPr/>
        </p:nvSpPr>
        <p:spPr>
          <a:xfrm>
            <a:off x="6174658" y="2538022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计划提供高层次、抽象的指导，与具体环境细节解耦。</a:t>
            </a:r>
          </a:p>
          <a:p>
            <a:endParaRPr lang="en-SG" dirty="0"/>
          </a:p>
          <a:p>
            <a:r>
              <a:rPr lang="en-SG" dirty="0" err="1"/>
              <a:t>元计划与特定的环境细节（例如</a:t>
            </a:r>
            <a:r>
              <a:rPr lang="en-SG" dirty="0"/>
              <a:t> “cabinet 1”、“cabinet 4”） </a:t>
            </a:r>
            <a:r>
              <a:rPr lang="en-SG" dirty="0" err="1"/>
              <a:t>和复杂的智能体轨迹解耦，使其更适合优化</a:t>
            </a:r>
            <a:r>
              <a:rPr lang="en-SG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8088509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6FC03-B749-C85D-E95D-1958EEED2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如何产生</a:t>
            </a:r>
            <a:r>
              <a:rPr lang="en-SG" altLang="zh-CN" dirty="0"/>
              <a:t>/</a:t>
            </a:r>
            <a:r>
              <a:rPr lang="zh-CN" altLang="en-US" dirty="0"/>
              <a:t>改善元计划</a:t>
            </a:r>
            <a:endParaRPr lang="en-SG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54DEAA-DC69-E4EA-8939-77D3CDF9AA07}"/>
              </a:ext>
            </a:extLst>
          </p:cNvPr>
          <p:cNvSpPr txBox="1"/>
          <p:nvPr/>
        </p:nvSpPr>
        <p:spPr>
          <a:xfrm>
            <a:off x="668594" y="2173380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dirty="0" err="1"/>
              <a:t>元计划器和一个代理组成。元规划师负责生成高级元计划，而代理则提供有关执行的反馈，以评估输入的元计划的质量并帮助完善元规划器</a:t>
            </a:r>
            <a:r>
              <a:rPr lang="en-SG" dirty="0"/>
              <a:t>。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0AD6E8-F545-1E69-D14A-6E5C8164E1F8}"/>
              </a:ext>
            </a:extLst>
          </p:cNvPr>
          <p:cNvSpPr txBox="1"/>
          <p:nvPr/>
        </p:nvSpPr>
        <p:spPr>
          <a:xfrm>
            <a:off x="1150374" y="3579402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zh-CN" altLang="en-US" dirty="0"/>
              <a:t>初期：</a:t>
            </a:r>
            <a:r>
              <a:rPr lang="en-SG" dirty="0" err="1"/>
              <a:t>专家轨迹中收集元计划，并通过监督微调对元规划器进行冷启动</a:t>
            </a:r>
            <a:r>
              <a:rPr lang="en-SG" dirty="0"/>
              <a:t>。</a:t>
            </a:r>
          </a:p>
          <a:p>
            <a:pPr marL="342900" indent="-342900">
              <a:buAutoNum type="arabicPeriod"/>
            </a:pPr>
            <a:r>
              <a:rPr lang="zh-CN" altLang="en-US" dirty="0"/>
              <a:t>改进：使用蒙特卡洛 （</a:t>
            </a:r>
            <a:r>
              <a:rPr lang="en-US" altLang="zh-CN" dirty="0"/>
              <a:t>MC</a:t>
            </a:r>
            <a:r>
              <a:rPr lang="zh-CN" altLang="en-US" dirty="0"/>
              <a:t>） 抽样来估计</a:t>
            </a:r>
            <a:r>
              <a:rPr lang="en-SG" altLang="zh-CN" dirty="0"/>
              <a:t>A</a:t>
            </a:r>
            <a:r>
              <a:rPr lang="en-US" altLang="zh-CN" dirty="0"/>
              <a:t>gent</a:t>
            </a:r>
            <a:r>
              <a:rPr lang="zh-CN" altLang="en-US" dirty="0"/>
              <a:t>的任务完成率作为反馈。</a:t>
            </a:r>
            <a:endParaRPr lang="en-SG" altLang="zh-CN" dirty="0"/>
          </a:p>
          <a:p>
            <a:r>
              <a:rPr lang="zh-CN" altLang="en-US" dirty="0"/>
              <a:t>具体来说，给定一个任务，规划者通过抽样生成多个元计划。然后对于每个元计划，也对 </a:t>
            </a:r>
            <a:r>
              <a:rPr lang="en-US" altLang="zh-CN" dirty="0"/>
              <a:t>agent </a:t>
            </a:r>
            <a:r>
              <a:rPr lang="zh-CN" altLang="en-US" dirty="0"/>
              <a:t>进行采样，产生多个执行轨迹，并据此估算任务完成率。</a:t>
            </a:r>
            <a:endParaRPr lang="en-SG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96928E-69EC-23B7-01F7-B4D49CAE4A71}"/>
              </a:ext>
            </a:extLst>
          </p:cNvPr>
          <p:cNvSpPr txBox="1"/>
          <p:nvPr/>
        </p:nvSpPr>
        <p:spPr>
          <a:xfrm>
            <a:off x="1238864" y="570762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dirty="0" err="1"/>
              <a:t>确定ontrastive</a:t>
            </a:r>
            <a:r>
              <a:rPr lang="en-SG" dirty="0"/>
              <a:t> </a:t>
            </a:r>
            <a:r>
              <a:rPr lang="en-SG" dirty="0" err="1"/>
              <a:t>metaplan</a:t>
            </a:r>
            <a:r>
              <a:rPr lang="en-SG" dirty="0"/>
              <a:t> </a:t>
            </a:r>
            <a:r>
              <a:rPr lang="en-SG" dirty="0" err="1"/>
              <a:t>pair（导致最高和最低任务完成率的那些）之后，应用</a:t>
            </a:r>
            <a:r>
              <a:rPr lang="en-SG" dirty="0"/>
              <a:t> </a:t>
            </a:r>
            <a:r>
              <a:rPr lang="en-SG" dirty="0" err="1"/>
              <a:t>DPO来改进这些计划对的元规划器</a:t>
            </a:r>
            <a:r>
              <a:rPr lang="en-SG" dirty="0"/>
              <a:t>。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0DD4FCD-ED8F-81E8-AF99-A746C1EE1B21}"/>
              </a:ext>
            </a:extLst>
          </p:cNvPr>
          <p:cNvSpPr txBox="1"/>
          <p:nvPr/>
        </p:nvSpPr>
        <p:spPr>
          <a:xfrm>
            <a:off x="7617542" y="4447581"/>
            <a:ext cx="373625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训练后的元计划</a:t>
            </a:r>
            <a:r>
              <a:rPr lang="en-US" altLang="zh-CN" dirty="0"/>
              <a:t>planner</a:t>
            </a:r>
            <a:r>
              <a:rPr lang="en-SG" dirty="0" err="1"/>
              <a:t>可以从</a:t>
            </a:r>
            <a:r>
              <a:rPr lang="en-SG" dirty="0"/>
              <a:t> MPO </a:t>
            </a:r>
            <a:r>
              <a:rPr lang="en-SG" dirty="0" err="1"/>
              <a:t>框架中分离出来，作为一个即插即用的组件</a:t>
            </a:r>
            <a:endParaRPr lang="en-SG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03A0031-02D5-8F8F-92AC-536B1816293E}"/>
              </a:ext>
            </a:extLst>
          </p:cNvPr>
          <p:cNvSpPr txBox="1"/>
          <p:nvPr/>
        </p:nvSpPr>
        <p:spPr>
          <a:xfrm>
            <a:off x="8141109" y="291204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最后再从：</a:t>
            </a:r>
            <a:endParaRPr lang="en-SG" dirty="0"/>
          </a:p>
          <a:p>
            <a:r>
              <a:rPr lang="en-SG" dirty="0" err="1"/>
              <a:t>正确性、可跟踪性和标准化三个角度评估</a:t>
            </a:r>
            <a:endParaRPr lang="en-SG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DCCAE6D-5FDB-B25C-B3E8-9DE89268A065}"/>
              </a:ext>
            </a:extLst>
          </p:cNvPr>
          <p:cNvCxnSpPr/>
          <p:nvPr/>
        </p:nvCxnSpPr>
        <p:spPr>
          <a:xfrm flipV="1">
            <a:off x="7118555" y="3429000"/>
            <a:ext cx="1022554" cy="14802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05703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DEA4B-4146-EA3B-FF0E-344386B62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实验效果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48400D-431B-3642-8AAB-B650782AA8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SG" dirty="0"/>
              <a:t> </a:t>
            </a:r>
            <a:r>
              <a:rPr lang="en-SG" dirty="0" err="1"/>
              <a:t>ALFWorld（Shridhar</a:t>
            </a:r>
            <a:r>
              <a:rPr lang="en-SG" dirty="0"/>
              <a:t> et al.， 2020）</a:t>
            </a:r>
            <a:r>
              <a:rPr lang="zh-CN" altLang="en-US" dirty="0"/>
              <a:t>和用于文本科学实验任务的 </a:t>
            </a:r>
            <a:r>
              <a:rPr lang="en-SG" dirty="0" err="1"/>
              <a:t>ScienceWorld（Wang</a:t>
            </a:r>
            <a:r>
              <a:rPr lang="en-SG" dirty="0"/>
              <a:t> et al.， 2022）。</a:t>
            </a:r>
            <a:r>
              <a:rPr lang="zh-CN" altLang="en-US" dirty="0"/>
              <a:t>在所有测试任务中，配备 </a:t>
            </a:r>
            <a:r>
              <a:rPr lang="en-SG" dirty="0"/>
              <a:t>Meta Planner </a:t>
            </a:r>
            <a:r>
              <a:rPr lang="zh-CN" altLang="en-US" dirty="0"/>
              <a:t>的代理的表现明显优于没有它的代理，性能提升高达 </a:t>
            </a:r>
            <a:r>
              <a:rPr lang="en-US" altLang="zh-CN" dirty="0"/>
              <a:t>100%</a:t>
            </a:r>
            <a:r>
              <a:rPr lang="zh-CN" altLang="en-US" dirty="0"/>
              <a:t>。</a:t>
            </a:r>
            <a:endParaRPr lang="en-SG" altLang="zh-CN" dirty="0"/>
          </a:p>
          <a:p>
            <a:endParaRPr lang="en-SG" dirty="0"/>
          </a:p>
          <a:p>
            <a:r>
              <a:rPr lang="zh-CN" altLang="en-US" dirty="0"/>
              <a:t>提高了智能体的任务完成效率</a:t>
            </a:r>
            <a:endParaRPr lang="en-SG" altLang="zh-CN" dirty="0"/>
          </a:p>
          <a:p>
            <a:r>
              <a:rPr lang="zh-CN" altLang="en-US" dirty="0"/>
              <a:t>它可以防止代理进行不必要的探索，从而提高他们的任务完成效率。根据 </a:t>
            </a:r>
            <a:r>
              <a:rPr lang="en-US" altLang="zh-CN" dirty="0"/>
              <a:t>Xiong </a:t>
            </a:r>
            <a:r>
              <a:rPr lang="zh-CN" altLang="en-US" dirty="0"/>
              <a:t>等人（</a:t>
            </a:r>
            <a:r>
              <a:rPr lang="en-US" altLang="zh-CN" dirty="0"/>
              <a:t>2024 </a:t>
            </a:r>
            <a:r>
              <a:rPr lang="zh-CN" altLang="en-US" dirty="0"/>
              <a:t>年），我们使用每步的平均奖励来评估行动效率，为每个任务计算为最终奖励与完成任务所需的步骤数的比率，然后在整个测试集中平均这些值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0135442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5A5070-A2EF-B220-2D6C-65FCCFD65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使用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2ED9DC-297C-B5C3-BD71-414ADA9483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meta plan is </a:t>
            </a:r>
            <a:r>
              <a:rPr lang="en-US" dirty="0" err="1"/>
              <a:t>incorpo</a:t>
            </a:r>
            <a:r>
              <a:rPr lang="en-US" dirty="0"/>
              <a:t>-rated into the task instructions to guide the </a:t>
            </a:r>
            <a:r>
              <a:rPr lang="en-US" dirty="0" err="1"/>
              <a:t>agentplanning</a:t>
            </a:r>
            <a:r>
              <a:rPr lang="en-US" dirty="0"/>
              <a:t> process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7470970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</TotalTime>
  <Words>755</Words>
  <Application>Microsoft Office PowerPoint</Application>
  <PresentationFormat>Widescreen</PresentationFormat>
  <Paragraphs>38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Microsoft YaHei</vt:lpstr>
      <vt:lpstr>Aptos</vt:lpstr>
      <vt:lpstr>Aptos Display</vt:lpstr>
      <vt:lpstr>Arial</vt:lpstr>
      <vt:lpstr>Consolas</vt:lpstr>
      <vt:lpstr>Office Theme</vt:lpstr>
      <vt:lpstr>PowerPoint Presentation</vt:lpstr>
      <vt:lpstr>PowerPoint Presentation</vt:lpstr>
      <vt:lpstr>背景</vt:lpstr>
      <vt:lpstr>什么是规划幻觉</vt:lpstr>
      <vt:lpstr>PowerPoint Presentation</vt:lpstr>
      <vt:lpstr>如何产生/改善元计划</vt:lpstr>
      <vt:lpstr>实验效果</vt:lpstr>
      <vt:lpstr>使用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Ruizhe Ye</dc:creator>
  <cp:lastModifiedBy>Ruizhe Ye</cp:lastModifiedBy>
  <cp:revision>11</cp:revision>
  <dcterms:created xsi:type="dcterms:W3CDTF">2025-03-19T17:29:18Z</dcterms:created>
  <dcterms:modified xsi:type="dcterms:W3CDTF">2025-03-19T19:40:26Z</dcterms:modified>
</cp:coreProperties>
</file>